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0" r:id="rId3"/>
    <p:sldId id="257" r:id="rId4"/>
    <p:sldId id="261" r:id="rId5"/>
    <p:sldId id="258" r:id="rId6"/>
    <p:sldId id="262" r:id="rId7"/>
    <p:sldId id="263" r:id="rId8"/>
    <p:sldId id="259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6CEB3-6F70-454A-B51E-17576E9526B1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8AC7D-98B0-4950-996E-0152E34A36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8641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6CEB3-6F70-454A-B51E-17576E9526B1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8AC7D-98B0-4950-996E-0152E34A36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063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6CEB3-6F70-454A-B51E-17576E9526B1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8AC7D-98B0-4950-996E-0152E34A36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1866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6CEB3-6F70-454A-B51E-17576E9526B1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8AC7D-98B0-4950-996E-0152E34A36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55823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6CEB3-6F70-454A-B51E-17576E9526B1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8AC7D-98B0-4950-996E-0152E34A36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8137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6CEB3-6F70-454A-B51E-17576E9526B1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8AC7D-98B0-4950-996E-0152E34A36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78734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6CEB3-6F70-454A-B51E-17576E9526B1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8AC7D-98B0-4950-996E-0152E34A36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9434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6CEB3-6F70-454A-B51E-17576E9526B1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8AC7D-98B0-4950-996E-0152E34A36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6624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6CEB3-6F70-454A-B51E-17576E9526B1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8AC7D-98B0-4950-996E-0152E34A36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3897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6CEB3-6F70-454A-B51E-17576E9526B1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8AC7D-98B0-4950-996E-0152E34A36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9804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6CEB3-6F70-454A-B51E-17576E9526B1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8AC7D-98B0-4950-996E-0152E34A36DD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054314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6CEB3-6F70-454A-B51E-17576E9526B1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8AC7D-98B0-4950-996E-0152E34A36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8338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6CEB3-6F70-454A-B51E-17576E9526B1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8AC7D-98B0-4950-996E-0152E34A36DD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48390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6CEB3-6F70-454A-B51E-17576E9526B1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8AC7D-98B0-4950-996E-0152E34A36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6120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6CEB3-6F70-454A-B51E-17576E9526B1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8AC7D-98B0-4950-996E-0152E34A36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7447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6CEB3-6F70-454A-B51E-17576E9526B1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8AC7D-98B0-4950-996E-0152E34A36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6515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86CEB3-6F70-454A-B51E-17576E9526B1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0E38AC7D-98B0-4950-996E-0152E34A36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22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Tennis rackets and balls on a blue surface&#10;&#10;AI-generated content may be incorrect.">
            <a:extLst>
              <a:ext uri="{FF2B5EF4-FFF2-40B4-BE49-F238E27FC236}">
                <a16:creationId xmlns:a16="http://schemas.microsoft.com/office/drawing/2014/main" id="{96A52D59-6677-15C8-EFDD-1604A942BDE6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prstClr val="white"/>
            </a:duotone>
          </a:blip>
          <a:srcRect l="35689" r="7657" b="2236"/>
          <a:stretch>
            <a:fillRect/>
          </a:stretch>
        </p:blipFill>
        <p:spPr>
          <a:xfrm>
            <a:off x="5123543" y="-1"/>
            <a:ext cx="7065281" cy="6858001"/>
          </a:xfrm>
          <a:custGeom>
            <a:avLst/>
            <a:gdLst/>
            <a:ahLst/>
            <a:cxnLst/>
            <a:rect l="l" t="t" r="r" b="b"/>
            <a:pathLst>
              <a:path w="7065281" h="6858001">
                <a:moveTo>
                  <a:pt x="379987" y="0"/>
                </a:moveTo>
                <a:lnTo>
                  <a:pt x="7065281" y="0"/>
                </a:lnTo>
                <a:lnTo>
                  <a:pt x="7065281" y="6858001"/>
                </a:lnTo>
                <a:lnTo>
                  <a:pt x="27809" y="6858001"/>
                </a:lnTo>
                <a:lnTo>
                  <a:pt x="1803228" y="4521201"/>
                </a:lnTo>
                <a:close/>
                <a:moveTo>
                  <a:pt x="0" y="0"/>
                </a:moveTo>
                <a:lnTo>
                  <a:pt x="379987" y="0"/>
                </a:lnTo>
                <a:lnTo>
                  <a:pt x="0" y="407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377E5DE-1BB8-12EF-E121-6ED0783DB3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8866" y="1678666"/>
            <a:ext cx="5123515" cy="2369093"/>
          </a:xfrm>
        </p:spPr>
        <p:txBody>
          <a:bodyPr>
            <a:normAutofit/>
          </a:bodyPr>
          <a:lstStyle/>
          <a:p>
            <a:r>
              <a:rPr lang="en-US" sz="4800"/>
              <a:t>ATP Tennis Matches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4145FA-7A03-BAB9-A39E-9F16C60B5C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7335" y="4050831"/>
            <a:ext cx="5113217" cy="1096901"/>
          </a:xfrm>
        </p:spPr>
        <p:txBody>
          <a:bodyPr>
            <a:normAutofit/>
          </a:bodyPr>
          <a:lstStyle/>
          <a:p>
            <a:r>
              <a:rPr lang="en-US" sz="1600"/>
              <a:t>Nick Ponticelli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57C1A16-B8AB-4D99-A195-A38F556A6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8A9B20B-D1DD-4573-B5EC-5580295192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23">
            <a:extLst>
              <a:ext uri="{FF2B5EF4-FFF2-40B4-BE49-F238E27FC236}">
                <a16:creationId xmlns:a16="http://schemas.microsoft.com/office/drawing/2014/main" id="{66D61E08-70C3-48D8-BEA0-787111DC3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6" name="Rectangle 25">
            <a:extLst>
              <a:ext uri="{FF2B5EF4-FFF2-40B4-BE49-F238E27FC236}">
                <a16:creationId xmlns:a16="http://schemas.microsoft.com/office/drawing/2014/main" id="{FC55298F-0AE5-478E-AD2B-03C2614C58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8" name="Isosceles Triangle 24">
            <a:extLst>
              <a:ext uri="{FF2B5EF4-FFF2-40B4-BE49-F238E27FC236}">
                <a16:creationId xmlns:a16="http://schemas.microsoft.com/office/drawing/2014/main" id="{C180E4EA-0B63-4779-A895-7E90E71088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" name="Rectangle 27">
            <a:extLst>
              <a:ext uri="{FF2B5EF4-FFF2-40B4-BE49-F238E27FC236}">
                <a16:creationId xmlns:a16="http://schemas.microsoft.com/office/drawing/2014/main" id="{CEE01D9D-3DE8-4EED-B0D3-8F3C79CC76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2" name="Rectangle 28">
            <a:extLst>
              <a:ext uri="{FF2B5EF4-FFF2-40B4-BE49-F238E27FC236}">
                <a16:creationId xmlns:a16="http://schemas.microsoft.com/office/drawing/2014/main" id="{89AF5CE9-607F-43F4-8983-DCD6DA4051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4" name="Rectangle 29">
            <a:extLst>
              <a:ext uri="{FF2B5EF4-FFF2-40B4-BE49-F238E27FC236}">
                <a16:creationId xmlns:a16="http://schemas.microsoft.com/office/drawing/2014/main" id="{6EEA2DBD-9E1E-4521-8C01-F32AD18A89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6" name="Isosceles Triangle 29">
            <a:extLst>
              <a:ext uri="{FF2B5EF4-FFF2-40B4-BE49-F238E27FC236}">
                <a16:creationId xmlns:a16="http://schemas.microsoft.com/office/drawing/2014/main" id="{15BBD2C1-BA9B-46A9-A27A-33498B169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957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8F5C0-8BEA-F51D-285B-6336F12D8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315DDD-A737-9887-FBDC-72FBBDB228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on 25 years of ATP matches</a:t>
            </a:r>
          </a:p>
          <a:p>
            <a:r>
              <a:rPr lang="en-US" dirty="0"/>
              <a:t>Provides sports performance insights</a:t>
            </a:r>
          </a:p>
          <a:p>
            <a:r>
              <a:rPr lang="en-US" dirty="0"/>
              <a:t>Provides sports betting insights</a:t>
            </a:r>
          </a:p>
        </p:txBody>
      </p:sp>
    </p:spTree>
    <p:extLst>
      <p:ext uri="{BB962C8B-B14F-4D97-AF65-F5344CB8AC3E}">
        <p14:creationId xmlns:p14="http://schemas.microsoft.com/office/powerpoint/2010/main" val="5740580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234C70-7B9C-DF8F-5393-EDF1C8B2D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Exploration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CCA1A6-AECC-D1BE-8381-5A4BD437FC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50,000+ Observations</a:t>
            </a:r>
          </a:p>
          <a:p>
            <a:r>
              <a:rPr lang="en-US" dirty="0"/>
              <a:t>49 features</a:t>
            </a:r>
          </a:p>
          <a:p>
            <a:pPr lvl="1"/>
            <a:r>
              <a:rPr lang="en-US" dirty="0"/>
              <a:t>32 Numerical</a:t>
            </a:r>
          </a:p>
          <a:p>
            <a:pPr lvl="1"/>
            <a:r>
              <a:rPr lang="en-US" dirty="0"/>
              <a:t>17 Categorical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15195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901BEC-01E6-C829-FB07-4F8C25B72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Cleaning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405768-092C-EB39-926F-FE9FC1E89D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 duplicate rows</a:t>
            </a:r>
          </a:p>
          <a:p>
            <a:r>
              <a:rPr lang="en-US" dirty="0"/>
              <a:t>Missing values replaced with N/A, Mean, Max or Mode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0550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70787-6D90-6AAC-E884-A1C14BBDD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Engineering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D3238E-C462-8608-9FEC-1178914BC0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Target variable </a:t>
            </a:r>
            <a:r>
              <a:rPr lang="en-US" dirty="0">
                <a:sym typeface="Wingdings" panose="05000000000000000000" pitchFamily="2" charset="2"/>
              </a:rPr>
              <a:t> Match results (win/loss)</a:t>
            </a:r>
          </a:p>
          <a:p>
            <a:r>
              <a:rPr lang="en-US" dirty="0">
                <a:sym typeface="Wingdings" panose="05000000000000000000" pitchFamily="2" charset="2"/>
              </a:rPr>
              <a:t>Target variable  Games difference</a:t>
            </a:r>
          </a:p>
          <a:p>
            <a:r>
              <a:rPr lang="en-US" dirty="0">
                <a:sym typeface="Wingdings" panose="05000000000000000000" pitchFamily="2" charset="2"/>
              </a:rPr>
              <a:t>Target variable  Play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13395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B11003-616D-E74B-9317-A43C63060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Engineering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BA983E-7BC7-40F2-F8C6-9FB030B832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Past five match performance</a:t>
            </a:r>
          </a:p>
          <a:p>
            <a:pPr lvl="1"/>
            <a:r>
              <a:rPr lang="en-US" dirty="0"/>
              <a:t>Aggregated data of win-loss percentage for past five matches</a:t>
            </a:r>
          </a:p>
          <a:p>
            <a:r>
              <a:rPr lang="en-US" dirty="0"/>
              <a:t>Head-to-head performance</a:t>
            </a:r>
          </a:p>
          <a:p>
            <a:pPr lvl="1"/>
            <a:r>
              <a:rPr lang="en-US" dirty="0"/>
              <a:t>Aggregated data of historical performance versus opponent</a:t>
            </a:r>
          </a:p>
        </p:txBody>
      </p:sp>
    </p:spTree>
    <p:extLst>
      <p:ext uri="{BB962C8B-B14F-4D97-AF65-F5344CB8AC3E}">
        <p14:creationId xmlns:p14="http://schemas.microsoft.com/office/powerpoint/2010/main" val="24800112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C73A1-41A2-30E1-E8A0-712B708084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Covariance Matrix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71EEAE2-786A-8642-1AA5-DFF97A2EBDC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82557217"/>
              </p:ext>
            </p:extLst>
          </p:nvPr>
        </p:nvGraphicFramePr>
        <p:xfrm>
          <a:off x="262467" y="1422400"/>
          <a:ext cx="9779000" cy="4902201"/>
        </p:xfrm>
        <a:graphic>
          <a:graphicData uri="http://schemas.openxmlformats.org/drawingml/2006/table">
            <a:tbl>
              <a:tblPr/>
              <a:tblGrid>
                <a:gridCol w="1397000">
                  <a:extLst>
                    <a:ext uri="{9D8B030D-6E8A-4147-A177-3AD203B41FA5}">
                      <a16:colId xmlns:a16="http://schemas.microsoft.com/office/drawing/2014/main" val="3396172111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1778630699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281645241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3072812681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1007274863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4282164426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1780636912"/>
                    </a:ext>
                  </a:extLst>
                </a:gridCol>
              </a:tblGrid>
              <a:tr h="1066975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700"/>
                        <a:t>Feature i \ Feature j</a:t>
                      </a:r>
                    </a:p>
                  </a:txBody>
                  <a:tcPr marL="84379" marR="84379" marT="42190" marB="421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700"/>
                        <a:t>rank_diff</a:t>
                      </a:r>
                    </a:p>
                  </a:txBody>
                  <a:tcPr marL="84379" marR="84379" marT="42190" marB="421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700"/>
                        <a:t>height_diff</a:t>
                      </a:r>
                    </a:p>
                  </a:txBody>
                  <a:tcPr marL="84379" marR="84379" marT="42190" marB="421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700"/>
                        <a:t>age_diff</a:t>
                      </a:r>
                    </a:p>
                  </a:txBody>
                  <a:tcPr marL="84379" marR="84379" marT="42190" marB="421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700"/>
                        <a:t>p1_h2h_win</a:t>
                      </a:r>
                    </a:p>
                  </a:txBody>
                  <a:tcPr marL="84379" marR="84379" marT="42190" marB="421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700"/>
                        <a:t>p1_recent</a:t>
                      </a:r>
                    </a:p>
                  </a:txBody>
                  <a:tcPr marL="84379" marR="84379" marT="42190" marB="421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700"/>
                        <a:t>p2_recent</a:t>
                      </a:r>
                    </a:p>
                  </a:txBody>
                  <a:tcPr marL="84379" marR="84379" marT="42190" marB="421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9778088"/>
                  </a:ext>
                </a:extLst>
              </a:tr>
              <a:tr h="425319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700" b="1"/>
                        <a:t>rank_diff</a:t>
                      </a:r>
                      <a:endParaRPr lang="en-US" sz="1700"/>
                    </a:p>
                  </a:txBody>
                  <a:tcPr marL="84379" marR="84379" marT="42190" marB="421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700"/>
                        <a:t>1.000</a:t>
                      </a:r>
                    </a:p>
                  </a:txBody>
                  <a:tcPr marL="84379" marR="84379" marT="42190" marB="421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700"/>
                        <a:t>0.0028</a:t>
                      </a:r>
                    </a:p>
                  </a:txBody>
                  <a:tcPr marL="84379" marR="84379" marT="42190" marB="421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700"/>
                        <a:t>-0.0586</a:t>
                      </a:r>
                    </a:p>
                  </a:txBody>
                  <a:tcPr marL="84379" marR="84379" marT="42190" marB="421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700"/>
                        <a:t>-0.0146</a:t>
                      </a:r>
                    </a:p>
                  </a:txBody>
                  <a:tcPr marL="84379" marR="84379" marT="42190" marB="421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700"/>
                        <a:t>0.0133</a:t>
                      </a:r>
                    </a:p>
                  </a:txBody>
                  <a:tcPr marL="84379" marR="84379" marT="42190" marB="421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700"/>
                        <a:t>0.0919</a:t>
                      </a:r>
                    </a:p>
                  </a:txBody>
                  <a:tcPr marL="84379" marR="84379" marT="42190" marB="421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5038785"/>
                  </a:ext>
                </a:extLst>
              </a:tr>
              <a:tr h="746147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700" b="1"/>
                        <a:t>height_diff</a:t>
                      </a:r>
                      <a:endParaRPr lang="en-US" sz="1700"/>
                    </a:p>
                  </a:txBody>
                  <a:tcPr marL="84379" marR="84379" marT="42190" marB="421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700"/>
                        <a:t>0.0028</a:t>
                      </a:r>
                    </a:p>
                  </a:txBody>
                  <a:tcPr marL="84379" marR="84379" marT="42190" marB="421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700"/>
                        <a:t>1.000</a:t>
                      </a:r>
                    </a:p>
                  </a:txBody>
                  <a:tcPr marL="84379" marR="84379" marT="42190" marB="421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700"/>
                        <a:t>-0.1210</a:t>
                      </a:r>
                    </a:p>
                  </a:txBody>
                  <a:tcPr marL="84379" marR="84379" marT="42190" marB="421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700"/>
                        <a:t>0.0266</a:t>
                      </a:r>
                    </a:p>
                  </a:txBody>
                  <a:tcPr marL="84379" marR="84379" marT="42190" marB="421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700"/>
                        <a:t>0.0359</a:t>
                      </a:r>
                    </a:p>
                  </a:txBody>
                  <a:tcPr marL="84379" marR="84379" marT="42190" marB="421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700"/>
                        <a:t>-0.0277</a:t>
                      </a:r>
                    </a:p>
                  </a:txBody>
                  <a:tcPr marL="84379" marR="84379" marT="42190" marB="421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618922"/>
                  </a:ext>
                </a:extLst>
              </a:tr>
              <a:tr h="425319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700" b="1" dirty="0" err="1"/>
                        <a:t>age_diff</a:t>
                      </a:r>
                      <a:endParaRPr lang="en-US" sz="1700" dirty="0"/>
                    </a:p>
                  </a:txBody>
                  <a:tcPr marL="84379" marR="84379" marT="42190" marB="421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700"/>
                        <a:t>-0.0586</a:t>
                      </a:r>
                    </a:p>
                  </a:txBody>
                  <a:tcPr marL="84379" marR="84379" marT="42190" marB="421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700"/>
                        <a:t>-0.1210</a:t>
                      </a:r>
                    </a:p>
                  </a:txBody>
                  <a:tcPr marL="84379" marR="84379" marT="42190" marB="421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700"/>
                        <a:t>1.000</a:t>
                      </a:r>
                    </a:p>
                  </a:txBody>
                  <a:tcPr marL="84379" marR="84379" marT="42190" marB="421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700"/>
                        <a:t>0.0278</a:t>
                      </a:r>
                    </a:p>
                  </a:txBody>
                  <a:tcPr marL="84379" marR="84379" marT="42190" marB="421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700"/>
                        <a:t>-0.0276</a:t>
                      </a:r>
                    </a:p>
                  </a:txBody>
                  <a:tcPr marL="84379" marR="84379" marT="42190" marB="421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700"/>
                        <a:t>0.0211</a:t>
                      </a:r>
                    </a:p>
                  </a:txBody>
                  <a:tcPr marL="84379" marR="84379" marT="42190" marB="421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579604"/>
                  </a:ext>
                </a:extLst>
              </a:tr>
              <a:tr h="746147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700" b="1" dirty="0"/>
                        <a:t>p1_h2h_win%</a:t>
                      </a:r>
                      <a:endParaRPr lang="en-US" sz="1700" dirty="0"/>
                    </a:p>
                  </a:txBody>
                  <a:tcPr marL="84379" marR="84379" marT="42190" marB="421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700" dirty="0"/>
                        <a:t>-0.0146</a:t>
                      </a:r>
                    </a:p>
                  </a:txBody>
                  <a:tcPr marL="84379" marR="84379" marT="42190" marB="421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700"/>
                        <a:t>0.0266</a:t>
                      </a:r>
                    </a:p>
                  </a:txBody>
                  <a:tcPr marL="84379" marR="84379" marT="42190" marB="421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700"/>
                        <a:t>0.0278</a:t>
                      </a:r>
                    </a:p>
                  </a:txBody>
                  <a:tcPr marL="84379" marR="84379" marT="42190" marB="421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700"/>
                        <a:t>1.000</a:t>
                      </a:r>
                    </a:p>
                  </a:txBody>
                  <a:tcPr marL="84379" marR="84379" marT="42190" marB="421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700"/>
                        <a:t>0.1262</a:t>
                      </a:r>
                    </a:p>
                  </a:txBody>
                  <a:tcPr marL="84379" marR="84379" marT="42190" marB="421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700"/>
                        <a:t>0.0072</a:t>
                      </a:r>
                    </a:p>
                  </a:txBody>
                  <a:tcPr marL="84379" marR="84379" marT="42190" marB="421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7598147"/>
                  </a:ext>
                </a:extLst>
              </a:tr>
              <a:tr h="746147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700" b="1" dirty="0"/>
                        <a:t>p1_recent_win%</a:t>
                      </a:r>
                      <a:endParaRPr lang="en-US" sz="1700" dirty="0"/>
                    </a:p>
                  </a:txBody>
                  <a:tcPr marL="84379" marR="84379" marT="42190" marB="421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700"/>
                        <a:t>0.0133</a:t>
                      </a:r>
                    </a:p>
                  </a:txBody>
                  <a:tcPr marL="84379" marR="84379" marT="42190" marB="421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700"/>
                        <a:t>0.0359</a:t>
                      </a:r>
                    </a:p>
                  </a:txBody>
                  <a:tcPr marL="84379" marR="84379" marT="42190" marB="421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700"/>
                        <a:t>-0.0276</a:t>
                      </a:r>
                    </a:p>
                  </a:txBody>
                  <a:tcPr marL="84379" marR="84379" marT="42190" marB="421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700"/>
                        <a:t>0.1262</a:t>
                      </a:r>
                    </a:p>
                  </a:txBody>
                  <a:tcPr marL="84379" marR="84379" marT="42190" marB="421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700"/>
                        <a:t>1.000</a:t>
                      </a:r>
                    </a:p>
                  </a:txBody>
                  <a:tcPr marL="84379" marR="84379" marT="42190" marB="421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700"/>
                        <a:t>0.3369</a:t>
                      </a:r>
                    </a:p>
                  </a:txBody>
                  <a:tcPr marL="84379" marR="84379" marT="42190" marB="421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7267806"/>
                  </a:ext>
                </a:extLst>
              </a:tr>
              <a:tr h="746147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700" b="1" dirty="0"/>
                        <a:t>p2_recent_win%</a:t>
                      </a:r>
                      <a:endParaRPr lang="en-US" sz="1700" dirty="0"/>
                    </a:p>
                  </a:txBody>
                  <a:tcPr marL="84379" marR="84379" marT="42190" marB="421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700"/>
                        <a:t>0.0919</a:t>
                      </a:r>
                    </a:p>
                  </a:txBody>
                  <a:tcPr marL="84379" marR="84379" marT="42190" marB="421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700"/>
                        <a:t>-0.0277</a:t>
                      </a:r>
                    </a:p>
                  </a:txBody>
                  <a:tcPr marL="84379" marR="84379" marT="42190" marB="421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700"/>
                        <a:t>0.0211</a:t>
                      </a:r>
                    </a:p>
                  </a:txBody>
                  <a:tcPr marL="84379" marR="84379" marT="42190" marB="421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700"/>
                        <a:t>0.0072</a:t>
                      </a:r>
                    </a:p>
                  </a:txBody>
                  <a:tcPr marL="84379" marR="84379" marT="42190" marB="421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700"/>
                        <a:t>0.3369</a:t>
                      </a:r>
                    </a:p>
                  </a:txBody>
                  <a:tcPr marL="84379" marR="84379" marT="42190" marB="421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700" dirty="0"/>
                        <a:t>1.000</a:t>
                      </a:r>
                    </a:p>
                  </a:txBody>
                  <a:tcPr marL="84379" marR="84379" marT="42190" marB="421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90274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33346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5E542-AC7F-2199-B66A-5AF8A3D58B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Looking Ahead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2AC6D8-EE83-0FEF-05C6-E9855B5825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Clustering </a:t>
            </a:r>
          </a:p>
          <a:p>
            <a:r>
              <a:rPr lang="en-US" dirty="0"/>
              <a:t>Linear Regression</a:t>
            </a:r>
          </a:p>
        </p:txBody>
      </p:sp>
    </p:spTree>
    <p:extLst>
      <p:ext uri="{BB962C8B-B14F-4D97-AF65-F5344CB8AC3E}">
        <p14:creationId xmlns:p14="http://schemas.microsoft.com/office/powerpoint/2010/main" val="768673162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55</TotalTime>
  <Words>204</Words>
  <Application>Microsoft Office PowerPoint</Application>
  <PresentationFormat>Widescreen</PresentationFormat>
  <Paragraphs>76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Trebuchet MS</vt:lpstr>
      <vt:lpstr>Wingdings</vt:lpstr>
      <vt:lpstr>Wingdings 3</vt:lpstr>
      <vt:lpstr>Facet</vt:lpstr>
      <vt:lpstr>ATP Tennis Matches</vt:lpstr>
      <vt:lpstr>Background</vt:lpstr>
      <vt:lpstr>Data Exploration</vt:lpstr>
      <vt:lpstr>Data Cleaning</vt:lpstr>
      <vt:lpstr>Feature Engineering</vt:lpstr>
      <vt:lpstr>Feature Engineering (Cont.)</vt:lpstr>
      <vt:lpstr>Covariance Matrix</vt:lpstr>
      <vt:lpstr>Looking Ahead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Nicholas Ponticelli</dc:creator>
  <cp:lastModifiedBy>Nicholas Ponticelli</cp:lastModifiedBy>
  <cp:revision>20</cp:revision>
  <dcterms:created xsi:type="dcterms:W3CDTF">2025-10-14T20:05:17Z</dcterms:created>
  <dcterms:modified xsi:type="dcterms:W3CDTF">2025-10-28T20:52:07Z</dcterms:modified>
</cp:coreProperties>
</file>