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65" r:id="rId8"/>
    <p:sldId id="264" r:id="rId9"/>
    <p:sldId id="267" r:id="rId10"/>
    <p:sldId id="268" r:id="rId11"/>
    <p:sldId id="266" r:id="rId12"/>
    <p:sldId id="269" r:id="rId13"/>
    <p:sldId id="270" r:id="rId14"/>
    <p:sldId id="271" r:id="rId15"/>
    <p:sldId id="273" r:id="rId16"/>
    <p:sldId id="274" r:id="rId17"/>
    <p:sldId id="276" r:id="rId18"/>
    <p:sldId id="275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6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063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8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82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81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73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43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6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80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5431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33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8390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612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744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51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86CEB3-6F70-454A-B51E-17576E9526B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nnis rackets and balls on a blue surface&#10;&#10;AI-generated content may be incorrect.">
            <a:extLst>
              <a:ext uri="{FF2B5EF4-FFF2-40B4-BE49-F238E27FC236}">
                <a16:creationId xmlns:a16="http://schemas.microsoft.com/office/drawing/2014/main" id="{96A52D59-6677-15C8-EFDD-1604A942BDE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prstClr val="white"/>
            </a:duotone>
          </a:blip>
          <a:srcRect l="35689" r="7657" b="2236"/>
          <a:stretch>
            <a:fillRect/>
          </a:stretch>
        </p:blipFill>
        <p:spPr>
          <a:xfrm>
            <a:off x="5123543" y="-1"/>
            <a:ext cx="7065281" cy="6858001"/>
          </a:xfrm>
          <a:custGeom>
            <a:avLst/>
            <a:gdLst/>
            <a:ahLst/>
            <a:cxnLst/>
            <a:rect l="l" t="t" r="r" b="b"/>
            <a:pathLst>
              <a:path w="7065281" h="6858001">
                <a:moveTo>
                  <a:pt x="379987" y="0"/>
                </a:moveTo>
                <a:lnTo>
                  <a:pt x="7065281" y="0"/>
                </a:lnTo>
                <a:lnTo>
                  <a:pt x="7065281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77E5DE-1BB8-12EF-E121-6ED0783DB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866" y="1678666"/>
            <a:ext cx="5123515" cy="2369093"/>
          </a:xfrm>
        </p:spPr>
        <p:txBody>
          <a:bodyPr>
            <a:normAutofit/>
          </a:bodyPr>
          <a:lstStyle/>
          <a:p>
            <a:r>
              <a:rPr lang="en-US" sz="4800" dirty="0"/>
              <a:t>ATP Tennis Matches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145FA-7A03-BAB9-A39E-9F16C60B5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7335" y="4050831"/>
            <a:ext cx="5113217" cy="1096901"/>
          </a:xfrm>
        </p:spPr>
        <p:txBody>
          <a:bodyPr>
            <a:normAutofit/>
          </a:bodyPr>
          <a:lstStyle/>
          <a:p>
            <a:r>
              <a:rPr lang="en-US" sz="1600"/>
              <a:t>Nick Ponticelli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F5C0-8BEA-F51D-285B-6336F12D8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15DDD-A737-9887-FBDC-72FBBDB2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on 30 years of ATP Tennis matches</a:t>
            </a:r>
          </a:p>
          <a:p>
            <a:r>
              <a:rPr lang="en-US" dirty="0"/>
              <a:t>Provides sports performance insights</a:t>
            </a:r>
          </a:p>
          <a:p>
            <a:r>
              <a:rPr lang="en-US" dirty="0"/>
              <a:t>Provides sports betting insights</a:t>
            </a:r>
          </a:p>
        </p:txBody>
      </p:sp>
    </p:spTree>
    <p:extLst>
      <p:ext uri="{BB962C8B-B14F-4D97-AF65-F5344CB8AC3E}">
        <p14:creationId xmlns:p14="http://schemas.microsoft.com/office/powerpoint/2010/main" val="574058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34C70-7B9C-DF8F-5393-EDF1C8B2D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CA1A6-AECC-D1BE-8381-5A4BD437F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90,000+ Observations</a:t>
            </a:r>
          </a:p>
          <a:p>
            <a:r>
              <a:rPr lang="en-US" dirty="0"/>
              <a:t>49 features</a:t>
            </a:r>
          </a:p>
          <a:p>
            <a:pPr lvl="1"/>
            <a:r>
              <a:rPr lang="en-US" dirty="0"/>
              <a:t>32 Numerical</a:t>
            </a:r>
          </a:p>
          <a:p>
            <a:pPr lvl="1"/>
            <a:r>
              <a:rPr lang="en-US" dirty="0"/>
              <a:t>17 Categorical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519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01BEC-01E6-C829-FB07-4F8C25B7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05768-092C-EB39-926F-FE9FC1E89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duplicate rows</a:t>
            </a:r>
          </a:p>
          <a:p>
            <a:r>
              <a:rPr lang="en-US" dirty="0"/>
              <a:t>Missing values replaced with Median, Max or Mode</a:t>
            </a:r>
          </a:p>
          <a:p>
            <a:r>
              <a:rPr lang="en-US" dirty="0"/>
              <a:t>Significant aggregation and rolling averages for statistics</a:t>
            </a:r>
          </a:p>
          <a:p>
            <a:r>
              <a:rPr lang="en-US" dirty="0"/>
              <a:t>Data transformed to randomize Player A and Player B in a match</a:t>
            </a:r>
          </a:p>
          <a:p>
            <a:pPr lvl="1"/>
            <a:r>
              <a:rPr lang="en-US" dirty="0"/>
              <a:t>Perfectly balanced data</a:t>
            </a:r>
          </a:p>
          <a:p>
            <a:r>
              <a:rPr lang="en-US" dirty="0"/>
              <a:t>Data is chronological, order of matches is important (prevent leakage)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55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70787-6D90-6AAC-E884-A1C14BBD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3238E-C462-8608-9FEC-1178914BC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  <a:r>
              <a:rPr lang="en-US" dirty="0">
                <a:sym typeface="Wingdings" panose="05000000000000000000" pitchFamily="2" charset="2"/>
              </a:rPr>
              <a:t> Match results (win/loss)</a:t>
            </a:r>
          </a:p>
          <a:p>
            <a:r>
              <a:rPr lang="en-US" dirty="0">
                <a:sym typeface="Wingdings" panose="05000000000000000000" pitchFamily="2" charset="2"/>
              </a:rPr>
              <a:t>Regression Percentage of points won</a:t>
            </a:r>
          </a:p>
        </p:txBody>
      </p:sp>
    </p:spTree>
    <p:extLst>
      <p:ext uri="{BB962C8B-B14F-4D97-AF65-F5344CB8AC3E}">
        <p14:creationId xmlns:p14="http://schemas.microsoft.com/office/powerpoint/2010/main" val="2671339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1003-616D-E74B-9317-A43C63060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A983E-7BC7-40F2-F8C6-9FB030B83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Elo</a:t>
            </a:r>
          </a:p>
          <a:p>
            <a:r>
              <a:rPr lang="en-US" dirty="0"/>
              <a:t>Fatigue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Height</a:t>
            </a:r>
          </a:p>
          <a:p>
            <a:r>
              <a:rPr lang="en-US" dirty="0"/>
              <a:t>Serve</a:t>
            </a:r>
          </a:p>
          <a:p>
            <a:r>
              <a:rPr lang="en-US" dirty="0"/>
              <a:t>Return</a:t>
            </a:r>
          </a:p>
          <a:p>
            <a:r>
              <a:rPr lang="en-US" dirty="0"/>
              <a:t>Form</a:t>
            </a:r>
          </a:p>
          <a:p>
            <a:r>
              <a:rPr lang="en-US" dirty="0"/>
              <a:t>Match Length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011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8F271-C02E-EA3E-550D-4C33E0D7C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Pearson Correlation Heatmap</a:t>
            </a:r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FB72B78B-B4FE-D363-A2B8-04CCED7F6B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44" y="1674797"/>
            <a:ext cx="8772958" cy="4386480"/>
          </a:xfrm>
        </p:spPr>
      </p:pic>
    </p:spTree>
    <p:extLst>
      <p:ext uri="{BB962C8B-B14F-4D97-AF65-F5344CB8AC3E}">
        <p14:creationId xmlns:p14="http://schemas.microsoft.com/office/powerpoint/2010/main" val="1325953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FD33-08E3-2733-08DE-F0CA9143A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LDA</a:t>
            </a:r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A0535F04-6C68-5888-99E6-2E9F2EF4D6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411" y="2272503"/>
            <a:ext cx="7315215" cy="3657607"/>
          </a:xfrm>
        </p:spPr>
      </p:pic>
    </p:spTree>
    <p:extLst>
      <p:ext uri="{BB962C8B-B14F-4D97-AF65-F5344CB8AC3E}">
        <p14:creationId xmlns:p14="http://schemas.microsoft.com/office/powerpoint/2010/main" val="1843160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E45BB-45EB-8CC6-39BE-85CBDF50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PCA</a:t>
            </a:r>
          </a:p>
        </p:txBody>
      </p:sp>
      <p:pic>
        <p:nvPicPr>
          <p:cNvPr id="5" name="Content Placeholder 4" descr="A graph with a line and a point&#10;&#10;AI-generated content may be incorrect.">
            <a:extLst>
              <a:ext uri="{FF2B5EF4-FFF2-40B4-BE49-F238E27FC236}">
                <a16:creationId xmlns:a16="http://schemas.microsoft.com/office/drawing/2014/main" id="{6FBA6ED7-ABA1-3ABF-9E77-FCD5B5A7F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488" y="2160588"/>
            <a:ext cx="6469061" cy="3881437"/>
          </a:xfrm>
        </p:spPr>
      </p:pic>
    </p:spTree>
    <p:extLst>
      <p:ext uri="{BB962C8B-B14F-4D97-AF65-F5344CB8AC3E}">
        <p14:creationId xmlns:p14="http://schemas.microsoft.com/office/powerpoint/2010/main" val="1233039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61B36-F6B6-488B-0C5F-9AF05CF98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 (SVD)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EA0EE-F2E6-F0F8-1431-C0705027D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SVD singular values: [384.66008365 302.40314713 281.05166577 268.85902705 267.40280499</a:t>
            </a:r>
          </a:p>
          <a:p>
            <a:r>
              <a:rPr lang="en-US" dirty="0"/>
              <a:t> 255.60342309 221.6947238  213.26541155 161.38055973]</a:t>
            </a:r>
          </a:p>
          <a:p>
            <a:r>
              <a:rPr lang="en-US" dirty="0"/>
              <a:t>Explained variance ratio by SVD (normalized): [0.2282688  0.14107983 0.12186097 0.11151712 0.11031237 0.1007919</a:t>
            </a:r>
          </a:p>
          <a:p>
            <a:r>
              <a:rPr lang="en-US" dirty="0"/>
              <a:t> 0.07582336 0.07016704 0.0401786 ]</a:t>
            </a:r>
          </a:p>
        </p:txBody>
      </p:sp>
    </p:spTree>
    <p:extLst>
      <p:ext uri="{BB962C8B-B14F-4D97-AF65-F5344CB8AC3E}">
        <p14:creationId xmlns:p14="http://schemas.microsoft.com/office/powerpoint/2010/main" val="4213649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FA32A-AA37-3909-EB07-5E1C2987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95500-D73F-1021-3360-415AD2CA5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Variance Inflation Factors (VIF):</a:t>
            </a:r>
          </a:p>
          <a:p>
            <a:r>
              <a:rPr lang="en-US" dirty="0"/>
              <a:t>                  Feature       VIF</a:t>
            </a:r>
          </a:p>
          <a:p>
            <a:r>
              <a:rPr lang="en-US" dirty="0"/>
              <a:t>0       </a:t>
            </a:r>
            <a:r>
              <a:rPr lang="en-US" dirty="0" err="1"/>
              <a:t>combined_elo_diff</a:t>
            </a:r>
            <a:r>
              <a:rPr lang="en-US" dirty="0"/>
              <a:t>  1.820522</a:t>
            </a:r>
          </a:p>
          <a:p>
            <a:r>
              <a:rPr lang="en-US" dirty="0"/>
              <a:t>1       </a:t>
            </a:r>
            <a:r>
              <a:rPr lang="en-US" dirty="0" err="1"/>
              <a:t>last_minutes_diff</a:t>
            </a:r>
            <a:r>
              <a:rPr lang="en-US" dirty="0"/>
              <a:t>  1.118266</a:t>
            </a:r>
          </a:p>
          <a:p>
            <a:r>
              <a:rPr lang="en-US" dirty="0"/>
              <a:t>2        fatigue_10d_diff  1.180064</a:t>
            </a:r>
          </a:p>
          <a:p>
            <a:r>
              <a:rPr lang="en-US" dirty="0"/>
              <a:t>3       </a:t>
            </a:r>
            <a:r>
              <a:rPr lang="en-US" dirty="0" err="1"/>
              <a:t>year_fatigue_diff</a:t>
            </a:r>
            <a:r>
              <a:rPr lang="en-US" dirty="0"/>
              <a:t>  1.619885</a:t>
            </a:r>
          </a:p>
          <a:p>
            <a:r>
              <a:rPr lang="en-US" dirty="0"/>
              <a:t>4            </a:t>
            </a:r>
            <a:r>
              <a:rPr lang="en-US" dirty="0" err="1"/>
              <a:t>raw_age_diff</a:t>
            </a:r>
            <a:r>
              <a:rPr lang="en-US" dirty="0"/>
              <a:t>  1.023798</a:t>
            </a:r>
          </a:p>
          <a:p>
            <a:r>
              <a:rPr lang="en-US" dirty="0"/>
              <a:t>5          </a:t>
            </a:r>
            <a:r>
              <a:rPr lang="en-US" dirty="0" err="1"/>
              <a:t>prime_age_diff</a:t>
            </a:r>
            <a:r>
              <a:rPr lang="en-US" dirty="0"/>
              <a:t>  1.015899</a:t>
            </a:r>
          </a:p>
          <a:p>
            <a:r>
              <a:rPr lang="en-US" dirty="0"/>
              <a:t>6         </a:t>
            </a:r>
            <a:r>
              <a:rPr lang="en-US" dirty="0" err="1"/>
              <a:t>raw_height_diff</a:t>
            </a:r>
            <a:r>
              <a:rPr lang="en-US" dirty="0"/>
              <a:t>  1.013375</a:t>
            </a:r>
          </a:p>
          <a:p>
            <a:r>
              <a:rPr lang="en-US" dirty="0"/>
              <a:t>7       </a:t>
            </a:r>
            <a:r>
              <a:rPr lang="en-US" dirty="0" err="1"/>
              <a:t>prime_height_diff</a:t>
            </a:r>
            <a:r>
              <a:rPr lang="en-US" dirty="0"/>
              <a:t>  1.001294</a:t>
            </a:r>
          </a:p>
          <a:p>
            <a:r>
              <a:rPr lang="en-US" dirty="0"/>
              <a:t>8  </a:t>
            </a:r>
            <a:r>
              <a:rPr lang="en-US" dirty="0" err="1"/>
              <a:t>service_advantage_diff</a:t>
            </a:r>
            <a:r>
              <a:rPr lang="en-US" dirty="0"/>
              <a:t>  1.313344</a:t>
            </a:r>
          </a:p>
        </p:txBody>
      </p:sp>
    </p:spTree>
    <p:extLst>
      <p:ext uri="{BB962C8B-B14F-4D97-AF65-F5344CB8AC3E}">
        <p14:creationId xmlns:p14="http://schemas.microsoft.com/office/powerpoint/2010/main" val="160592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4366-BEB6-35D2-6B81-03F758CEE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02329"/>
          </a:xfrm>
        </p:spPr>
        <p:txBody>
          <a:bodyPr/>
          <a:lstStyle/>
          <a:p>
            <a:r>
              <a:rPr lang="en-US" dirty="0"/>
              <a:t>Random Forest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90FBA-33B5-ED71-2974-34D1E5C46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80344"/>
            <a:ext cx="8596668" cy="388077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 Feature  Importance</a:t>
            </a:r>
          </a:p>
          <a:p>
            <a:r>
              <a:rPr lang="en-US" dirty="0"/>
              <a:t>0        </a:t>
            </a:r>
            <a:r>
              <a:rPr lang="en-US" dirty="0" err="1"/>
              <a:t>combined_elo_diff</a:t>
            </a:r>
            <a:r>
              <a:rPr lang="en-US" dirty="0"/>
              <a:t>    0.263364</a:t>
            </a:r>
          </a:p>
          <a:p>
            <a:r>
              <a:rPr lang="en-US" dirty="0"/>
              <a:t>3        </a:t>
            </a:r>
            <a:r>
              <a:rPr lang="en-US" dirty="0" err="1"/>
              <a:t>year_fatigue_diff</a:t>
            </a:r>
            <a:r>
              <a:rPr lang="en-US" dirty="0"/>
              <a:t>    0.139366</a:t>
            </a:r>
          </a:p>
          <a:p>
            <a:r>
              <a:rPr lang="en-US" dirty="0"/>
              <a:t>8   </a:t>
            </a:r>
            <a:r>
              <a:rPr lang="en-US" dirty="0" err="1"/>
              <a:t>service_advantage_diff</a:t>
            </a:r>
            <a:r>
              <a:rPr lang="en-US" dirty="0"/>
              <a:t>    0.131973</a:t>
            </a:r>
          </a:p>
          <a:p>
            <a:r>
              <a:rPr lang="en-US" dirty="0"/>
              <a:t>4             </a:t>
            </a:r>
            <a:r>
              <a:rPr lang="en-US" dirty="0" err="1"/>
              <a:t>raw_age_diff</a:t>
            </a:r>
            <a:r>
              <a:rPr lang="en-US" dirty="0"/>
              <a:t>    0.099571</a:t>
            </a:r>
          </a:p>
          <a:p>
            <a:r>
              <a:rPr lang="en-US" dirty="0"/>
              <a:t>5           </a:t>
            </a:r>
            <a:r>
              <a:rPr lang="en-US" dirty="0" err="1"/>
              <a:t>prime_age_diff</a:t>
            </a:r>
            <a:r>
              <a:rPr lang="en-US" dirty="0"/>
              <a:t>    0.099301</a:t>
            </a:r>
          </a:p>
          <a:p>
            <a:r>
              <a:rPr lang="en-US" dirty="0"/>
              <a:t>2         fatigue_10d_diff    0.082862</a:t>
            </a:r>
          </a:p>
          <a:p>
            <a:r>
              <a:rPr lang="en-US" dirty="0"/>
              <a:t>7        </a:t>
            </a:r>
            <a:r>
              <a:rPr lang="en-US" dirty="0" err="1"/>
              <a:t>prime_height_diff</a:t>
            </a:r>
            <a:r>
              <a:rPr lang="en-US" dirty="0"/>
              <a:t>    0.070821</a:t>
            </a:r>
          </a:p>
          <a:p>
            <a:r>
              <a:rPr lang="en-US" dirty="0"/>
              <a:t>6          </a:t>
            </a:r>
            <a:r>
              <a:rPr lang="en-US" dirty="0" err="1"/>
              <a:t>raw_height_diff</a:t>
            </a:r>
            <a:r>
              <a:rPr lang="en-US" dirty="0"/>
              <a:t>    0.063034</a:t>
            </a:r>
          </a:p>
          <a:p>
            <a:r>
              <a:rPr lang="en-US" dirty="0"/>
              <a:t>1        </a:t>
            </a:r>
            <a:r>
              <a:rPr lang="en-US" dirty="0" err="1"/>
              <a:t>last_minutes_diff</a:t>
            </a:r>
            <a:r>
              <a:rPr lang="en-US" dirty="0"/>
              <a:t>    0.027542</a:t>
            </a:r>
          </a:p>
          <a:p>
            <a:r>
              <a:rPr lang="en-US" dirty="0"/>
              <a:t>11               best_of_5    0.010086</a:t>
            </a:r>
          </a:p>
          <a:p>
            <a:r>
              <a:rPr lang="en-US" dirty="0"/>
              <a:t>10          rusty_diff_1.0    0.006438</a:t>
            </a:r>
          </a:p>
          <a:p>
            <a:r>
              <a:rPr lang="en-US" dirty="0"/>
              <a:t>9           rusty_diff_0.0    0.005643</a:t>
            </a:r>
          </a:p>
        </p:txBody>
      </p:sp>
    </p:spTree>
    <p:extLst>
      <p:ext uri="{BB962C8B-B14F-4D97-AF65-F5344CB8AC3E}">
        <p14:creationId xmlns:p14="http://schemas.microsoft.com/office/powerpoint/2010/main" val="20826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4A68-A3CD-EE01-DEE3-8C405352D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AEC7B-59EB-8AD6-E8A2-AFE1D4EF3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036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C7BB-0E3C-D860-6D76-AC0888C4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CAB8-BBD5-271D-4E3C-5440344DA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Win/Loss for a match</a:t>
            </a:r>
          </a:p>
          <a:p>
            <a:r>
              <a:rPr lang="en-US" dirty="0"/>
              <a:t>Player A wins </a:t>
            </a:r>
            <a:r>
              <a:rPr lang="en-US" dirty="0">
                <a:sym typeface="Wingdings" panose="05000000000000000000" pitchFamily="2" charset="2"/>
              </a:rPr>
              <a:t> 1</a:t>
            </a:r>
          </a:p>
          <a:p>
            <a:r>
              <a:rPr lang="en-US" dirty="0">
                <a:sym typeface="Wingdings" panose="05000000000000000000" pitchFamily="2" charset="2"/>
              </a:rPr>
              <a:t>Player B wins 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194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90DE-716C-06AD-F84D-1F37C528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- LDA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10494-A41E-3987-49EF-7DAF5CBF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LDA Classification Results ---</a:t>
            </a:r>
          </a:p>
          <a:p>
            <a:r>
              <a:rPr lang="en-US" dirty="0"/>
              <a:t>Best LDA Parameters: {'shrinkage': None, 'solver': '</a:t>
            </a:r>
            <a:r>
              <a:rPr lang="en-US" dirty="0" err="1"/>
              <a:t>svd</a:t>
            </a:r>
            <a:r>
              <a:rPr lang="en-US" dirty="0"/>
              <a:t>'}</a:t>
            </a:r>
          </a:p>
          <a:p>
            <a:r>
              <a:rPr lang="en-US" dirty="0"/>
              <a:t>Best CV Score (Accuracy): 0.6703</a:t>
            </a:r>
          </a:p>
          <a:p>
            <a:r>
              <a:rPr lang="en-US" dirty="0"/>
              <a:t>Test Set Accuracy: 0.6533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0       0.65      0.65      0.65      8955</a:t>
            </a:r>
          </a:p>
          <a:p>
            <a:r>
              <a:rPr lang="en-US" dirty="0"/>
              <a:t>           1       0.66      0.65      0.65      9051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998543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715EB-AB85-AFCC-6262-350E4847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–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D4F14-49F6-1E62-A76E-8E6459F50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Logistic Regression Classification Results ---</a:t>
            </a:r>
          </a:p>
          <a:p>
            <a:r>
              <a:rPr lang="en-US" dirty="0"/>
              <a:t>Best LR Parameters: {'C': 1.0, 'penalty': 'l2', 'solver': '</a:t>
            </a:r>
            <a:r>
              <a:rPr lang="en-US" dirty="0" err="1"/>
              <a:t>lbfgs</a:t>
            </a:r>
            <a:r>
              <a:rPr lang="en-US" dirty="0"/>
              <a:t>'}</a:t>
            </a:r>
          </a:p>
          <a:p>
            <a:r>
              <a:rPr lang="en-US" dirty="0"/>
              <a:t>Best CV Score (Accuracy): 0.6706</a:t>
            </a:r>
          </a:p>
          <a:p>
            <a:r>
              <a:rPr lang="en-US" dirty="0"/>
              <a:t>Test Set Accuracy: 0.6538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0       0.65      0.66      0.65      8955</a:t>
            </a:r>
          </a:p>
          <a:p>
            <a:r>
              <a:rPr lang="en-US" dirty="0"/>
              <a:t>           1       0.66      0.65      0.65      9051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1789607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37F9-348C-7EE6-4DBD-52BD7175D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-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C8C0F-40FA-37DD-6D4C-81D8E1577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2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6B02-35FF-7CF9-F53E-9A23B22DF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– 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ECE06-B25A-64D8-AA75-E0ACE8AA7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Random Forest Classification Results (Bagging) ---</a:t>
            </a:r>
          </a:p>
          <a:p>
            <a:r>
              <a:rPr lang="en-US" dirty="0"/>
              <a:t>Best RF Parameters: {'</a:t>
            </a:r>
            <a:r>
              <a:rPr lang="en-US" dirty="0" err="1"/>
              <a:t>max_depth</a:t>
            </a:r>
            <a:r>
              <a:rPr lang="en-US" dirty="0"/>
              <a:t>': 10, '</a:t>
            </a:r>
            <a:r>
              <a:rPr lang="en-US" dirty="0" err="1"/>
              <a:t>max_features</a:t>
            </a:r>
            <a:r>
              <a:rPr lang="en-US" dirty="0"/>
              <a:t>': 'sqrt', '</a:t>
            </a:r>
            <a:r>
              <a:rPr lang="en-US" dirty="0" err="1"/>
              <a:t>min_samples_split</a:t>
            </a:r>
            <a:r>
              <a:rPr lang="en-US" dirty="0"/>
              <a:t>': 10, '</a:t>
            </a:r>
            <a:r>
              <a:rPr lang="en-US" dirty="0" err="1"/>
              <a:t>n_estimators</a:t>
            </a:r>
            <a:r>
              <a:rPr lang="en-US" dirty="0"/>
              <a:t>': 300}</a:t>
            </a:r>
          </a:p>
          <a:p>
            <a:r>
              <a:rPr lang="en-US" dirty="0"/>
              <a:t>Best CV Score (Accuracy): 0.6717</a:t>
            </a:r>
          </a:p>
          <a:p>
            <a:r>
              <a:rPr lang="en-US" dirty="0"/>
              <a:t>Test Set Accuracy: 0.6506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0       0.65      0.65      0.65      8955</a:t>
            </a:r>
          </a:p>
          <a:p>
            <a:r>
              <a:rPr lang="en-US" dirty="0"/>
              <a:t>           1       0.65      0.65      0.65      9051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51714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A924-E3CE-1B32-4DCF-CC86D16AF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291FB-770F-E9CB-0E32-51552110D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1044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AA0-CC06-1FBC-B4EA-14BD41DA4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168D1-C69A-184B-7FE9-F35DA959A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42287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221</TotalTime>
  <Words>596</Words>
  <Application>Microsoft Office PowerPoint</Application>
  <PresentationFormat>Widescreen</PresentationFormat>
  <Paragraphs>117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Trebuchet MS</vt:lpstr>
      <vt:lpstr>Wingdings</vt:lpstr>
      <vt:lpstr>Wingdings 3</vt:lpstr>
      <vt:lpstr>Facet</vt:lpstr>
      <vt:lpstr>ATP Tennis Matches</vt:lpstr>
      <vt:lpstr>Background</vt:lpstr>
      <vt:lpstr>Data Exploration</vt:lpstr>
      <vt:lpstr>Data Cleaning</vt:lpstr>
      <vt:lpstr>Feature Engineering</vt:lpstr>
      <vt:lpstr>Feature Engineering (Cont.)</vt:lpstr>
      <vt:lpstr>Pearson Correlation Heatmap</vt:lpstr>
      <vt:lpstr>LDA</vt:lpstr>
      <vt:lpstr>PCA</vt:lpstr>
      <vt:lpstr>Singular Value Decomposition (SVD)</vt:lpstr>
      <vt:lpstr>VIF</vt:lpstr>
      <vt:lpstr>Random Forest Analysis</vt:lpstr>
      <vt:lpstr>Linear Regression</vt:lpstr>
      <vt:lpstr>Classification</vt:lpstr>
      <vt:lpstr>Classification - LDA</vt:lpstr>
      <vt:lpstr>Classification – Logistic Regression</vt:lpstr>
      <vt:lpstr>Classification - Decision Tree</vt:lpstr>
      <vt:lpstr>Classification – Random Forest</vt:lpstr>
      <vt:lpstr>Recommendations</vt:lpstr>
      <vt:lpstr>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Ponticelli</dc:creator>
  <cp:lastModifiedBy>Nicholas Ponticelli</cp:lastModifiedBy>
  <cp:revision>36</cp:revision>
  <dcterms:created xsi:type="dcterms:W3CDTF">2025-10-14T20:05:17Z</dcterms:created>
  <dcterms:modified xsi:type="dcterms:W3CDTF">2025-12-03T15:24:17Z</dcterms:modified>
</cp:coreProperties>
</file>